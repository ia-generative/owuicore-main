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9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MirAI: du graphe documentaire a l'assistant reglementaire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26080"/>
            <a:ext cx="8869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2ECE2"/>
                </a:solidFill>
              </a:defRPr>
            </a:pPr>
            <a:r>
              <a:t>Support de demonstration 10-15 min</a:t>
            </a:r>
          </a:p>
          <a:p>
            <a:pPr>
              <a:spcAft>
                <a:spcPts val="600"/>
              </a:spcAft>
              <a:defRPr sz="1800">
                <a:solidFill>
                  <a:srgbClr val="F2ECE2"/>
                </a:solidFill>
              </a:defRPr>
            </a:pPr>
            <a:r>
              <a:t>grafrag-experimentation + anef-knowledge-assistant</a:t>
            </a:r>
          </a:p>
          <a:p>
            <a:pPr>
              <a:spcAft>
                <a:spcPts val="600"/>
              </a:spcAft>
              <a:defRPr sz="1800">
                <a:solidFill>
                  <a:srgbClr val="F2ECE2"/>
                </a:solidFill>
              </a:defRPr>
            </a:pPr>
            <a:r>
              <a:t>Une meme experience Open WebUI pour deux usages a forte valeur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303520"/>
            <a:ext cx="3749039" cy="457200"/>
          </a:xfrm>
          <a:prstGeom prst="roundRect">
            <a:avLst/>
          </a:prstGeom>
          <a:solidFill>
            <a:srgbClr val="263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Narration produit + preuve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A7581"/>
                </a:solidFill>
              </a:rPr>
              <a:t>MirAI demo deck | 10-15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64592" cy="4754880"/>
          </a:xfrm>
          <a:prstGeom prst="rect">
            <a:avLst/>
          </a:prstGeom>
          <a:solidFill>
            <a:srgbClr val="19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542"/>
                </a:solidFill>
              </a:rPr>
              <a:t>L'intention de l'experimentation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24128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Tester une experience IA plus fiable qu'un simple chat generaliste.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Combiner retrieval, graphe, citations et outils metier dans une meme interface.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Prouver qu'on peut faire cohabiter usages generiques et expertise verticale sans forker Open WebUI.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Valider un chemin reproductible du laptop au cluster Kubernetes.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5806440"/>
            <a:ext cx="3520440" cy="384048"/>
          </a:xfrm>
          <a:prstGeom prst="roundRect">
            <a:avLst/>
          </a:prstGeom>
          <a:solidFill>
            <a:srgbClr val="F2ECE2"/>
          </a:solidFill>
          <a:ln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9596A"/>
                </a:solidFill>
              </a:rPr>
              <a:t>Demo narrative + support 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A7581"/>
                </a:solidFill>
              </a:rPr>
              <a:t>Slide 2 | MirAI demo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64592" cy="4754880"/>
          </a:xfrm>
          <a:prstGeom prst="rect">
            <a:avLst/>
          </a:prstGeom>
          <a:solidFill>
            <a:srgbClr val="19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542"/>
                </a:solidFill>
              </a:rPr>
              <a:t>Ce que demontre grafrag-experimentation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24128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GraphRAG branche derriere Open WebUI via un bridge FastAPI et des pipelines dedies.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Visualisation du corpus dans un graph viewer interactif, avec lecture documentaire et chronologique.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Mode resilient: fallback documentaire si l'index complet n'est pas pret.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Mode multi-corpus: Corpus Manager, versions publiees, ACL, worker d'indexation et sources synchronisees.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5806440"/>
            <a:ext cx="3520440" cy="384048"/>
          </a:xfrm>
          <a:prstGeom prst="roundRect">
            <a:avLst/>
          </a:prstGeom>
          <a:solidFill>
            <a:srgbClr val="F2ECE2"/>
          </a:solidFill>
          <a:ln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9596A"/>
                </a:solidFill>
              </a:rPr>
              <a:t>Demo narrative + support 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A7581"/>
                </a:solidFill>
              </a:rPr>
              <a:t>Slide 3 | MirAI demo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64592" cy="4754880"/>
          </a:xfrm>
          <a:prstGeom prst="rect">
            <a:avLst/>
          </a:prstGeom>
          <a:solidFill>
            <a:srgbClr val="19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542"/>
                </a:solidFill>
              </a:rPr>
              <a:t>Ce que demontre anef-knowledge-assistant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24128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Transformation d'un Excel metier et du CESEDA en moteur d'eligibilite explicable.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API FastAPI orientee cas d'usage: eligibility, pieces, conditions, wizard, FAQ, legal search.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Reponses groundees avec citations CESEDA cliquables et viewer juridique local.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Surcouche browser legere dans Open WebUI: preview au survol, modal au clic, sans fork frontal lourd.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5806440"/>
            <a:ext cx="3520440" cy="384048"/>
          </a:xfrm>
          <a:prstGeom prst="roundRect">
            <a:avLst/>
          </a:prstGeom>
          <a:solidFill>
            <a:srgbClr val="F2ECE2"/>
          </a:solidFill>
          <a:ln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9596A"/>
                </a:solidFill>
              </a:rPr>
              <a:t>Demo narrative + support 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A7581"/>
                </a:solidFill>
              </a:rPr>
              <a:t>Slide 4 | MirAI demo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64592" cy="4754880"/>
          </a:xfrm>
          <a:prstGeom prst="rect">
            <a:avLst/>
          </a:prstGeom>
          <a:solidFill>
            <a:srgbClr val="19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542"/>
                </a:solidFill>
              </a:rPr>
              <a:t>Pourquoi les deux repos ensemble sont interessants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24128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Une meme entree utilisateur: Open WebUI, SSO Keycloak, aliases MirAI, pipelines partages.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Deux moteurs complementaires: exploration documentaire d'un cote, expertise reglementaire de l'autre.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Un redeploiement partage capable de reprovisionner modeles, grants, loader.js et integrations.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Une architecture modulaire: chaque domaine evolue sans casser l'autre.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5806440"/>
            <a:ext cx="3520440" cy="384048"/>
          </a:xfrm>
          <a:prstGeom prst="roundRect">
            <a:avLst/>
          </a:prstGeom>
          <a:solidFill>
            <a:srgbClr val="F2ECE2"/>
          </a:solidFill>
          <a:ln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9596A"/>
                </a:solidFill>
              </a:rPr>
              <a:t>Demo narrative + support 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A7581"/>
                </a:solidFill>
              </a:rPr>
              <a:t>Slide 5 | MirAI demo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64592" cy="4754880"/>
          </a:xfrm>
          <a:prstGeom prst="rect">
            <a:avLst/>
          </a:prstGeom>
          <a:solidFill>
            <a:srgbClr val="19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542"/>
                </a:solidFill>
              </a:rPr>
              <a:t>Scenario de demo en 10-15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24128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1. Ouvrir Open WebUI et presenter les modeles MirAI disponibles.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2. Montrer une question historique sur le corpus medieval et la reponse GraphRAG avec sources.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3. Ouvrir le graph viewer pour visualiser les noeuds, relations et la chronologie.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4. Montrer le Corpus Manager ou au minimum expliquer le workflow sync &gt; index &gt; publish.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5. Basculer sur ANEF pour un cas reglementaire concret et afficher les citations CESEDA enrichies.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5806440"/>
            <a:ext cx="3520440" cy="384048"/>
          </a:xfrm>
          <a:prstGeom prst="roundRect">
            <a:avLst/>
          </a:prstGeom>
          <a:solidFill>
            <a:srgbClr val="F2ECE2"/>
          </a:solidFill>
          <a:ln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9596A"/>
                </a:solidFill>
              </a:rPr>
              <a:t>Demo narrative + support 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A7581"/>
                </a:solidFill>
              </a:rPr>
              <a:t>Slide 6 | MirAI demo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64592" cy="4754880"/>
          </a:xfrm>
          <a:prstGeom prst="rect">
            <a:avLst/>
          </a:prstGeom>
          <a:solidFill>
            <a:srgbClr val="19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542"/>
                </a:solidFill>
              </a:rPr>
              <a:t>Deroule de test recommande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24128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Prompt GraphRAG: Donne-moi une chronologie synthetique de la guerre de Cent Ans avec les batailles pivots.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Prompt GraphRAG: Quels acteurs relient Crecy, Poitiers, Azincourt et le traite de Troyes ?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Prompt ANEF: Pour un CST salarie - L. 421-1, quelles pieces et quels points de vigilance ?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Interaction ANEF: survoler un lien CESEDA, ouvrir la modale, verifier la citation et le permalink.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5806440"/>
            <a:ext cx="3520440" cy="384048"/>
          </a:xfrm>
          <a:prstGeom prst="roundRect">
            <a:avLst/>
          </a:prstGeom>
          <a:solidFill>
            <a:srgbClr val="F2ECE2"/>
          </a:solidFill>
          <a:ln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9596A"/>
                </a:solidFill>
              </a:rPr>
              <a:t>Demo narrative + support 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A7581"/>
                </a:solidFill>
              </a:rPr>
              <a:t>Slide 7 | MirAI demo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64592" cy="4754880"/>
          </a:xfrm>
          <a:prstGeom prst="rect">
            <a:avLst/>
          </a:prstGeom>
          <a:solidFill>
            <a:srgbClr val="19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542"/>
                </a:solidFill>
              </a:rPr>
              <a:t>Messages techniques a faire passer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24128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Le bridge GraphRAG impose des timeouts et un fallback pour garder l'UI reactive.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Le viewer reste disponible meme sans artefacts complets grace au document-map fallback.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Le moteur ANEF garde les citations et l'explicabilite comme premier livrable, pas comme post-traitement cosmetique.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Le loader.js ANEF est persiste declarativement via ConfigMap, contrairement aux aliases Open WebUI rejoues par 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5806440"/>
            <a:ext cx="3520440" cy="384048"/>
          </a:xfrm>
          <a:prstGeom prst="roundRect">
            <a:avLst/>
          </a:prstGeom>
          <a:solidFill>
            <a:srgbClr val="F2ECE2"/>
          </a:solidFill>
          <a:ln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9596A"/>
                </a:solidFill>
              </a:rPr>
              <a:t>Demo narrative + support 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A7581"/>
                </a:solidFill>
              </a:rPr>
              <a:t>Slide 8 | MirAI demo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64592" cy="4754880"/>
          </a:xfrm>
          <a:prstGeom prst="rect">
            <a:avLst/>
          </a:prstGeom>
          <a:solidFill>
            <a:srgbClr val="19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542"/>
                </a:solidFill>
              </a:rPr>
              <a:t>Valeur metier et valeur de plateforme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24128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Pour l'utilisateur: reponses plus actionnables, plus sourcables, plus navigables.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Pour l'equipe produit: experimentation rapide sur plusieurs UX sans reecrire toute la stack.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Pour l'IT: local Docker et Kubernetes partagent une logique d'integration coherente.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Pour le sponsor: preuve qu'un assistant de confiance peut mixer retrieval, graphe, moteur metier et UX augmentee.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5806440"/>
            <a:ext cx="3520440" cy="384048"/>
          </a:xfrm>
          <a:prstGeom prst="roundRect">
            <a:avLst/>
          </a:prstGeom>
          <a:solidFill>
            <a:srgbClr val="F2ECE2"/>
          </a:solidFill>
          <a:ln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9596A"/>
                </a:solidFill>
              </a:rPr>
              <a:t>Demo narrative + support 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A7581"/>
                </a:solidFill>
              </a:rPr>
              <a:t>Slide 9 | MirAI demo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64592" cy="4754880"/>
          </a:xfrm>
          <a:prstGeom prst="rect">
            <a:avLst/>
          </a:prstGeom>
          <a:solidFill>
            <a:srgbClr val="19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542"/>
                </a:solidFill>
              </a:rPr>
              <a:t>Limites assumees a verbaliser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24128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GraphRAG peut etre long a indexer sur des corpus reels: la demo doit montrer le workflow, pas promettre l'instantane.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Les aliases Open WebUI restent rejouables apres rollout si webui.db est volatil.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Le mode multi-corpus existe, mais n'est pas encore une plateforme de gouvernance a grande echelle.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ANEF assiste la decision et met en avant les zones d'incertitude; il ne remplace pas une validation humaine.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5806440"/>
            <a:ext cx="3520440" cy="384048"/>
          </a:xfrm>
          <a:prstGeom prst="roundRect">
            <a:avLst/>
          </a:prstGeom>
          <a:solidFill>
            <a:srgbClr val="F2ECE2"/>
          </a:solidFill>
          <a:ln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9596A"/>
                </a:solidFill>
              </a:rPr>
              <a:t>Demo narrative + support 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A7581"/>
                </a:solidFill>
              </a:rPr>
              <a:t>Slide 10 | MirAI demo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64592" cy="4754880"/>
          </a:xfrm>
          <a:prstGeom prst="rect">
            <a:avLst/>
          </a:prstGeom>
          <a:solidFill>
            <a:srgbClr val="19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542"/>
                </a:solidFill>
              </a:rPr>
              <a:t>Conclusion et ouverture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24128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Ce que nous testons: une plateforme d'assistants specialises, demonstrable et industrialisable.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Ce que nous prouvons: Open WebUI peut devenir une couche d'experience commune pour plusieurs moteurs IA.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Ce que nous ouvrons: nouveaux corpus, nouveaux moteurs metier, nouveaux workflows de publication et de controle.</a:t>
            </a:r>
          </a:p>
          <a:p>
            <a:pPr>
              <a:spcAft>
                <a:spcPts val="1100"/>
              </a:spcAft>
              <a:defRPr sz="2000">
                <a:solidFill>
                  <a:srgbClr val="202933"/>
                </a:solidFill>
              </a:defRPr>
            </a:pPr>
            <a:r>
              <a:t>Prochaine etape possible: choisir 1 ou 2 cas d'usage prioritaires et durcir la boucle de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5806440"/>
            <a:ext cx="3520440" cy="384048"/>
          </a:xfrm>
          <a:prstGeom prst="roundRect">
            <a:avLst/>
          </a:prstGeom>
          <a:solidFill>
            <a:srgbClr val="F2ECE2"/>
          </a:solidFill>
          <a:ln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9596A"/>
                </a:solidFill>
              </a:rPr>
              <a:t>Demo narrative + support speaker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A7581"/>
                </a:solidFill>
              </a:rPr>
              <a:t>Slide 11 | MirAI demo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